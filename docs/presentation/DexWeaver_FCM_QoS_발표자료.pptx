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03120"/>
            <a:ext cx="3657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DexWeaver FCM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Arial"/>
              </a:defRPr>
            </a:pPr>
            <a:r>
              <a:t>Firebase Cloud Messaging QoS 측정 및 분석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Arial"/>
              </a:defRPr>
            </a:pPr>
            <a:r>
              <a:t>FCM의 구조적 한계를 정량적으로 측정하고,</a:t>
            </a:r>
            <a:br/>
            <a:r>
              <a:t>다단계 QoS 보장 메커니즘을 설계·검증한 실험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0"/>
                </a:solidFill>
                <a:latin typeface="Arial"/>
              </a:defRPr>
            </a:pPr>
            <a:r>
              <a:t>2026.03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배경: FCM의 구조적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642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FCM이 전달을 보장하지 않는 이유와 그럼에도 사용하는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48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프로젝트 접근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QoS 지표 정의 및 다단계 보장 메커니즘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980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실험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90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4단계 실험 방법론 및 테스트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112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112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실험 결과: Phase 1 - 기준선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039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이상적 환경에서의 베이스라인 측정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245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24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실험 결과: Phase 2 - FCM 설정 영향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171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메시지 타입, 우선순위, TTL, Collapse Key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실험 결과: Phase 3 - 추가 실험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303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스테일 토큰, 페이로드 한계, 중복 전송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50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핵심 발견 및 결론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정량적 분석 결과 요약 및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993391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Firebase Cloud Messaging이란?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Arial"/>
              </a:defRPr>
            </a:pPr>
            <a:r>
              <a:t>[ App Server ]  →  [ FCM Backend ]  →  [ Transport Layer ]  →  [ Client SDK ]  →  [ App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Arial"/>
              </a:defRPr>
            </a:pPr>
            <a:r>
              <a:t>HTTP v1 API              Google 서버              Android: GCM / iOS: APNs              Firebase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0D2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Google이 제공하는 무료 크로스 플랫폼 메시징 서비스 (Android, iOS, Web)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D2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메시지 타입: Data Message (앱 처리) vs Notification Message (OS 처리)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D2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월간 수십억 건 처리 — 전 세계 모바일 앱의 사실상 표준 푸시 인프라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D2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2024년 6월 기준 Legacy API 종료, HTTP v1 API로 전환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993391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FCM이 전달을 보장하지 않는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603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560320" cy="54864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Arial"/>
              </a:defRPr>
            </a:pPr>
            <a:r>
              <a:t>Best-Effort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HTTP 200 = FCM 서버 수신 완료</a:t>
            </a:r>
            <a:br/>
            <a:r>
              <a:t>≠ 디바이스 실제 수신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737360"/>
            <a:ext cx="25603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ACK 메커니즘 부재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서버→기기 전달 확인 불가</a:t>
            </a:r>
            <a:br/>
            <a:r>
              <a:t>수신 여부를 알 방법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25603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256032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/>
              </a:defRPr>
            </a:pPr>
            <a:r>
              <a:t>OS/OEM 간섭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Android 배터리 최적화로</a:t>
            </a:r>
            <a:br/>
            <a:r>
              <a:t>알림 20~55%만 도달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737360"/>
            <a:ext cx="25603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네트워크 의존성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오프라인/불안정 네트워크</a:t>
            </a:r>
            <a:br/>
            <a:r>
              <a:t>전달 실패 → 저장 후 재시도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solidFill>
            <a:srgbClr val="2D1515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Arial"/>
              </a:defRPr>
            </a:pPr>
            <a:r>
              <a:t>⚠  "FCM은 MQTT QoS Level 0 수준 — 메시지를 보내지만 도착을 보장하지 않는다"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Google 공식 문서에도 'best-effort delivery'로 명시 | 실제 산업 현장 전달률: 14~48% (PushAlert 2023)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993391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그럼에도 FCM을 사용하는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3152" cy="914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Arial"/>
              </a:defRPr>
            </a:pPr>
            <a:r>
              <a:t>무료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비용 제한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메시지 수 무제한, 완전 무료</a:t>
            </a:r>
            <a:br/>
            <a:r>
              <a:t>Startup부터 Enterprise까지 비용 부담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크로스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하나의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Android, iOS, Web을 단일 HTTP v1 API로</a:t>
            </a:r>
            <a:br/>
            <a:r>
              <a:t>통합 관리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Arial"/>
              </a:defRPr>
            </a:pPr>
            <a:r>
              <a:t>생태계 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Firebase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Analytics, Crashlytics, Remote Config 등</a:t>
            </a:r>
            <a:br/>
            <a:r>
              <a:t>Firebase 전체 생태계와 원활한 연동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73152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Arial"/>
              </a:defRPr>
            </a:pPr>
            <a:r>
              <a:t>대안 부재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사실상 표준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Android: FCM 필수 (GMS)</a:t>
            </a:r>
            <a:br/>
            <a:r>
              <a:t>iOS: APNs 래퍼로 활용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30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Arial"/>
              </a:defRPr>
            </a:pPr>
            <a:r>
              <a:t>→  FCM 자체를 대체하기보다, FCM 위에 QoS 보장 계층을 추가하는 것이 현실적 해법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993391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FCM 불안정 요인 분류 — 4개 레이어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65176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Arial"/>
              </a:defRPr>
            </a:pPr>
            <a:r>
              <a:t>Layer 1</a:t>
            </a:r>
            <a:br/>
            <a:r>
              <a:t>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만료된 토큰 (Stale Token)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페이로드 초과 (4KB 제한)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Rate Limit 초과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인증 실패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Arial"/>
              </a:defRPr>
            </a:pPr>
            <a:r>
              <a:t>서버 제어 가능</a:t>
            </a:r>
            <a:br/>
            <a:r>
              <a:t>L1 재시도로 복구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645920"/>
            <a:ext cx="265176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64592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Arial"/>
              </a:defRPr>
            </a:pPr>
            <a:r>
              <a:t>Layer 2</a:t>
            </a:r>
            <a:br/>
            <a:r>
              <a:t>FCM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비축소형 100개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팬아웃 지연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Arial"/>
              </a:defRPr>
            </a:pPr>
            <a:r>
              <a:t>FCM 내부 동작</a:t>
            </a:r>
            <a:br/>
            <a:r>
              <a:t>부분적 우회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645920"/>
            <a:ext cx="265176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645920"/>
            <a:ext cx="2651760" cy="54864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6A"/>
                </a:solidFill>
                <a:latin typeface="Arial"/>
              </a:defRPr>
            </a:pPr>
            <a:r>
              <a:t>Layer 3</a:t>
            </a:r>
            <a:br/>
            <a:r>
              <a:t>OS/OEM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Android OEM 배터리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Doze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iOS Silent 알림 제한 (2~3/h)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App Standby Bucket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D6A"/>
                </a:solidFill>
                <a:latin typeface="Arial"/>
              </a:defRPr>
            </a:pPr>
            <a:r>
              <a:t>가장 치명적</a:t>
            </a:r>
            <a:br/>
            <a:r>
              <a:t>서버 측 제어 불가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19" y="1645920"/>
            <a:ext cx="265176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19" y="1645920"/>
            <a:ext cx="26517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599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Arial"/>
              </a:defRPr>
            </a:pPr>
            <a:r>
              <a:t>Layer 4</a:t>
            </a:r>
            <a:br/>
            <a:r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디바이스 오프라인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• 네트워크 불안정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55F7"/>
                </a:solidFill>
                <a:latin typeface="Arial"/>
              </a:defRPr>
            </a:pPr>
            <a:r>
              <a:t>일시적</a:t>
            </a:r>
            <a:br/>
            <a:r>
              <a:t>TTL로 부분 대응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322576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02  접근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QoS 평가 지표 체계 (M1~M8)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Arial"/>
              </a:defRPr>
            </a:pPr>
            <a: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19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Arial"/>
              </a:defRPr>
            </a:pPr>
            <a:r>
              <a:t>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19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Arial"/>
              </a:defRPr>
            </a:pPr>
            <a:r>
              <a:t>영문 / 단위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Arial"/>
              </a:defRPr>
            </a:pPr>
            <a:r>
              <a:t>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Arial"/>
              </a:defRPr>
            </a:pPr>
            <a: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전달률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Delivery Rate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서버 전송 대비 디바이스 수신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Arial"/>
              </a:defRPr>
            </a:pPr>
            <a: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평균 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Avg Latency (ms)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전송~수신 간 평균 소요 시간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Arial"/>
              </a:defRPr>
            </a:pPr>
            <a: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P95 지연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P95 Latency (ms)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상위 5% 지연 시간 (사용자 체감)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Arial"/>
              </a:defRPr>
            </a:pPr>
            <a: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P99 지연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P99 Latency (ms)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상위 1% 극단 지연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재시도율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Retry Rate (%)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L1/L2 QoS에서 재시도 발생 비율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70915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6A"/>
                </a:solidFill>
                <a:latin typeface="Arial"/>
              </a:defRPr>
            </a:pPr>
            <a:r>
              <a:t>M6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7091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DLQ율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7091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DLQ Rate (%)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7091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최종 실패 → Dead Letter Queue 이동률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212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Arial"/>
              </a:defRPr>
            </a:pPr>
            <a:r>
              <a:t>M7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중복률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Duplicate Rate (%)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동일 메시지 중복 수신 비율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715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Arial"/>
              </a:defRPr>
            </a:pPr>
            <a:r>
              <a:t>M8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715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처리량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Throughput (msg/s)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715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초당 처리 가능 메시지 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Arial"/>
              </a:defRPr>
            </a:pPr>
            <a:r>
              <a:t>※ 통계 검증: 이항검정(전달률), Mann-Whitney U(지연), 신뢰구간 95%, 오차범위 ±2%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322576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02  접근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다단계 QoS 보장 메커니즘 (L0 / L1 / L2)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Arial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Best-Effort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Fire &amp; Forget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FCM 기본 동작 그대로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재시도 없음, ACK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가장 빠른 처리 속도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비핵심 알림에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347472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645920"/>
            <a:ext cx="347472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8745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Arial"/>
              </a:defRPr>
            </a:pPr>
            <a: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At-Least-Once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Retry + 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743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Firestore ACK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200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Exponential Backoff 재시도 (5회)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타임아웃: 30초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Layer 1~2 장애에 효과적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645920"/>
            <a:ext cx="3474720" cy="6400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8745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96"/>
                </a:solidFill>
                <a:latin typeface="Arial"/>
              </a:defRPr>
            </a:pPr>
            <a: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74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Exactly-Once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Retry + ACK + Dedup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43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L1 기능 + 중복 제거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00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클라이언트 dedup ID 기반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메시지 고유성 보장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• 결제/인증 등 핵심 알림용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0"/>
                </a:solidFill>
                <a:latin typeface="Arial"/>
              </a:defRPr>
            </a:pPr>
            <a:r>
              <a:t>신뢰도 ────────────────────────────────────────────►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322576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02  접근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01168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828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App Server</a:t>
            </a:r>
            <a:br/>
            <a:r>
              <a:t>(ts-node)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286000"/>
            <a:ext cx="201168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468880"/>
            <a:ext cx="1828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Arial"/>
              </a:defRPr>
            </a:pPr>
            <a:r>
              <a:t>Safety</a:t>
            </a:r>
            <a:br/>
            <a:r>
              <a:t>Classifier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2286000"/>
            <a:ext cx="201168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468880"/>
            <a:ext cx="1828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Arial"/>
              </a:defRPr>
            </a:pPr>
            <a:r>
              <a:t>QoS Engine</a:t>
            </a:r>
            <a:br/>
            <a:r>
              <a:t>(L0/L1/L2)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286000"/>
            <a:ext cx="201168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468880"/>
            <a:ext cx="18288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6A"/>
                </a:solidFill>
                <a:latin typeface="Arial"/>
              </a:defRPr>
            </a:pPr>
            <a:r>
              <a:t>FCM HTTP</a:t>
            </a:r>
            <a:br/>
            <a:r>
              <a:t>v1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2286000"/>
            <a:ext cx="137160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468880"/>
            <a:ext cx="1188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Arial"/>
              </a:defRPr>
            </a:pPr>
            <a:r>
              <a:t>Device</a:t>
            </a:r>
            <a:br/>
            <a:r>
              <a:t>(Flutter)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60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0C0"/>
                </a:solidFill>
                <a:latin typeface="Arial"/>
              </a:defRPr>
            </a:pPr>
            <a:r>
              <a:t>→           →           →         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25603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ACK Receiver</a:t>
            </a:r>
            <a:br/>
            <a:r>
              <a:t>(Firestore Listener)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114800"/>
            <a:ext cx="25603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251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Metrics Collector</a:t>
            </a:r>
            <a:br/>
            <a:r>
              <a:t>(M1~M8 계산)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114800"/>
            <a:ext cx="25603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425196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Arial"/>
              </a:defRPr>
            </a:pPr>
            <a:r>
              <a:t>Report Generator</a:t>
            </a:r>
            <a:br/>
            <a:r>
              <a:t>(CSV / Markdown)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4114800"/>
            <a:ext cx="21945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4251960"/>
            <a:ext cx="20116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Cloud</a:t>
            </a:r>
            <a:br/>
            <a:r>
              <a:t>Firestore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66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90"/>
                </a:solidFill>
                <a:latin typeface="Arial"/>
              </a:defRPr>
            </a:pPr>
            <a:r>
              <a:t>↑ ACK 수신          ← 지표 수집          ← 리포트 생성          ↕ 저장/조회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322576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03 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4단계 실험 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069848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73152" cy="10515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기준선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5개 STABLE 시나리오</a:t>
            </a:r>
            <a:br/>
            <a:r>
              <a:t>이상적 환경에서 베이스라인 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74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Arial"/>
              </a:defRPr>
            </a:pPr>
            <a:r>
              <a:t>8 시나리오</a:t>
            </a:r>
            <a:br/>
            <a:r>
              <a:t>완료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69848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73152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개별 불안정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337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15개 UNSTABLE 시나리오</a:t>
            </a:r>
            <a:br/>
            <a:r>
              <a:t>각 변수를 독립적으로 격리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Arial"/>
              </a:defRPr>
            </a:pPr>
            <a:r>
              <a:t>16 시나리오</a:t>
            </a:r>
            <a:br/>
            <a:r>
              <a:t>완료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1069848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73152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복합 요인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526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6개 복합 시나리오</a:t>
            </a:r>
            <a:br/>
            <a:r>
              <a:t>다중 변수 동시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251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Arial"/>
              </a:defRPr>
            </a:pPr>
            <a:r>
              <a:t>4 그룹</a:t>
            </a:r>
            <a:br/>
            <a:r>
              <a:t>완료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069848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73152" cy="105156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6A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QoS 메커니즘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715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L0/L1/L2를 불안정 케이스에 적용</a:t>
            </a:r>
            <a:br/>
            <a:r>
              <a:t>개선 효과 정량 측정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440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6A"/>
                </a:solidFill>
                <a:latin typeface="Arial"/>
              </a:defRPr>
            </a:pPr>
            <a:r>
              <a:t>예정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80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테스트 환경:  Android Emulator (Pixel 3a, API 36)  |  Firebase Spark Plan  |  Local Network  |  Flutter 클라이언트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871215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04  Phase 1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Phase 1: 기준선 측정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73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전달률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평균 지연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P95 지연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P99 지연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처리량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48840"/>
            <a:ext cx="1069848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EXP-S01  단일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93ms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213ms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254ms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EXP-S02 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96ms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217ms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248ms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9.7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063240"/>
            <a:ext cx="1069848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EXP-S03  Combined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86ms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197ms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252ms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108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EXP-S04  Collapsible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66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114ms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234ms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282ms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8.3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977639"/>
            <a:ext cx="1069848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0233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EXP-S05  Burst (50ms)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233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124ms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280ms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336ms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7.6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0233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480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EXP-S05  Slow (1000ms)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4805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113ms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227ms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260ms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0.98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4805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892040"/>
            <a:ext cx="10698480" cy="438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937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EXP-U02  1KB Payload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4937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4937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105ms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4937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233ms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937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268ms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4937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9.1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49377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394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EXP-U02  3KB Payload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5394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53949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98ms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0" y="5394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218ms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394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258ms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5394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Arial"/>
              </a:defRPr>
            </a:pPr>
            <a:r>
              <a:t>9.7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53949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96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152D1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Arial"/>
              </a:defRPr>
            </a:pPr>
            <a:r>
              <a:t>핵심 발견:  이상적 환경(에뮬레이터)에서 모든 시나리오 100% 전달 달성 → 유의미한 베이스라인 확보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871215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05  Phase 2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Phase 2: 메시지 타입 &amp; 우선순위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Arial"/>
              </a:defRPr>
            </a:pPr>
            <a:r>
              <a:t>메시지 타입별 성능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08090"/>
                </a:solidFill>
                <a:latin typeface="Arial"/>
              </a:defRPr>
            </a:pPr>
            <a:r>
              <a:t>타입              전달률    평균지연    P95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Data-only                 100%      99ms     228ms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Notification-only         100%      94ms     205ms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Arial"/>
              </a:defRPr>
            </a:pPr>
            <a:r>
              <a:t>Combined                  100%      69ms     168ms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Arial"/>
              </a:defRPr>
            </a:pPr>
            <a:r>
              <a:t>→ Combined 메시지가 가장 빠른 지연 (69ms)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우선순위별 성능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08090"/>
                </a:solidFill>
                <a:latin typeface="Arial"/>
              </a:defRPr>
            </a:pPr>
            <a:r>
              <a:t>우선순위         전달률    평균지연    P95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HIGH                      100%      70ms     173ms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NORMAL                    100%      66ms     159ms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  <a:latin typeface="Arial"/>
              </a:defRPr>
            </a:pPr>
            <a:r>
              <a:t>→ 에뮬레이터 환경에서 우선순위 차이 미미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0"/>
                </a:solidFill>
                <a:latin typeface="Arial"/>
              </a:defRPr>
            </a:pPr>
            <a:r>
              <a:t>   (실제 디바이스 + Doze 모드에서 차이 발생 예상)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Arial"/>
              </a:defRPr>
            </a:pPr>
            <a:r>
              <a:t>페이로드 크기별 성능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23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Minimal (&lt;100B): 68ms avg    |    2KB: 66ms avg    |    4KB (max): 76ms 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89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5F7"/>
                </a:solidFill>
                <a:latin typeface="Arial"/>
              </a:defRPr>
            </a:pPr>
            <a:r>
              <a:t>→ 페이로드 크기에 따른 지연 차이는 10ms 이내로 무시 가능 수준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871215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05  Phase 2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Phase 2: TTL &amp; 전송 속도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Arial"/>
              </a:defRPr>
            </a:pPr>
            <a:r>
              <a:t>TTL (Time-To-Live)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Arial"/>
              </a:defRPr>
            </a:pPr>
            <a:r>
              <a:t>TTL = 0초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Arial"/>
              </a:defRPr>
            </a:pPr>
            <a:r>
              <a:t>100%  |  62ms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0"/>
                </a:solidFill>
                <a:latin typeface="Arial"/>
              </a:defRPr>
            </a:pPr>
            <a:r>
              <a:t>즉시 전달 모드 (가장 빠름)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TTL = 24시간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100%  |  86ms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0"/>
                </a:solidFill>
                <a:latin typeface="Arial"/>
              </a:defRPr>
            </a:pPr>
            <a:r>
              <a:t>표준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TTL = 28일 (기본값)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100%  |  86ms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22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90"/>
                </a:solidFill>
                <a:latin typeface="Arial"/>
              </a:defRPr>
            </a:pPr>
            <a:r>
              <a:t>FCM 기본 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Arial"/>
              </a:defRPr>
            </a:pPr>
            <a:r>
              <a:t>→ TTL=0이 24ms 더 빠름 (오프라인 큐잉 비활성)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21208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전송 속도 (Interval)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10ms 버스트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100% | 79ms | 11.4 msg/s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Arial"/>
              </a:defRPr>
            </a:pPr>
            <a:r>
              <a:t>200ms 보통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96"/>
                </a:solidFill>
                <a:latin typeface="Arial"/>
              </a:defRPr>
            </a:pPr>
            <a:r>
              <a:t>100% | 68ms | 4.8 msg/s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Arial"/>
              </a:defRPr>
            </a:pPr>
            <a:r>
              <a:t>1000ms 느림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100% | 91ms | 0.99 msg/s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Arial"/>
              </a:defRPr>
            </a:pPr>
            <a:r>
              <a:t>→ 200ms 간격이 최적 (빠른 지연 + 적정 처리량)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Arial"/>
              </a:defRPr>
            </a:pPr>
            <a:r>
              <a:t>Phase 2 종합 인사이트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이상적 환경에서 모든 설정 조합이 100% 전달률 달성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평균 지연 범위: 62~99ms — 모든 조건에서 100ms 이하 달성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Combined 메시지 + TTL=0 + 200ms 간격이 최적 조합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871215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05  Phase 2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4D6A"/>
                </a:solidFill>
                <a:latin typeface="Arial"/>
              </a:defRPr>
            </a:pPr>
            <a:r>
              <a:t>핵심 발견: Collapse Key의 극단적 영향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solidFill>
            <a:srgbClr val="152D1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Arial"/>
              </a:defRPr>
            </a:pPr>
            <a:r>
              <a:t>Non-Collapsible (collapse_key 없음)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E69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Arial"/>
              </a:defRPr>
            </a:pPr>
            <a:r>
              <a:t>전달률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30/30 메시지 모두 수신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2286000"/>
          </a:xfrm>
          <a:prstGeom prst="rect">
            <a:avLst/>
          </a:prstGeom>
          <a:solidFill>
            <a:srgbClr val="2D1515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Arial"/>
              </a:defRPr>
            </a:pPr>
            <a:r>
              <a:t>Collapsible (동일 collapse_key)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4D6A"/>
                </a:solidFill>
                <a:latin typeface="Arial"/>
              </a:defRPr>
            </a:pPr>
            <a:r>
              <a:t>13.3%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Arial"/>
              </a:defRPr>
            </a:pPr>
            <a:r>
              <a:t>전달률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D6A"/>
                </a:solidFill>
                <a:latin typeface="Arial"/>
              </a:defRPr>
            </a:pPr>
            <a:r>
              <a:t>30개 중 4개만 수신 (86.7%p 하락)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1069848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왜 이런 일이 발생하는가?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FF6B35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같은 collapse_key를 가진 메시지가 큐에 있으면, 새 메시지가 이전 메시지를 덮어씀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FF6B35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빠른 연속 전송 시 → 대부분의 메시지가 전달 전에 교체됨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FF6B35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설계 의도: 날씨/점수 등 '최신 상태'만 필요한 경우 → 정상 동작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FF6B35"/>
                </a:solidFill>
                <a:latin typeface="Arial"/>
              </a:rPr>
              <a:t>●  </a:t>
            </a:r>
            <a:r>
              <a:rPr sz="1400">
                <a:solidFill>
                  <a:srgbClr val="FFFFFF"/>
                </a:solidFill>
                <a:latin typeface="Arial"/>
              </a:rPr>
              <a:t>하지만 채팅/결제 알림 등 '모든 메시지'가 필요한 경우 → 치명적 데이터 손실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871215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06  Phase 3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Phase 3: 추가 실험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11430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27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Arial"/>
              </a:defRPr>
            </a:pPr>
            <a:r>
              <a:t>Group G: 스테일 토큰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만료/삭제된 토큰으로 전송 시 FCM이 즉시 에러 반환</a:t>
            </a:r>
            <a:br/>
            <a:r>
              <a:t>→ 서버 측에서 토큰 관리가 필수 (Token Manager 필요)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D6A"/>
                </a:solidFill>
                <a:latin typeface="Arial"/>
              </a:defRPr>
            </a:pPr>
            <a:r>
              <a:t>독립적 실패 — 재시도 무의미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39"/>
            <a:ext cx="10698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39"/>
            <a:ext cx="731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077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Group H: 페이로드 한계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4,096 Bytes: 정상 전달 ✓</a:t>
            </a:r>
            <a:br/>
            <a:r>
              <a:t>5,000 Bytes: FCM 서버 즉시 거부 ✗</a:t>
            </a:r>
            <a:br/>
            <a:r>
              <a:t>→ 4KB 한계가 정확히 적용됨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546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Arial"/>
              </a:defRPr>
            </a:pPr>
            <a:r>
              <a:t>Hard limit — 분할 전송 전략 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698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73152" cy="1143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87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Group I: Collapsible 쓰로틀링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버스트 전송 &gt; 느린 전송 (collapse 메커니즘 차이)</a:t>
            </a:r>
            <a:br/>
            <a:r>
              <a:t>빠를수록 더 많은 메시지가 교체 전에 전달됨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434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역직관적 결과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59"/>
            <a:ext cx="10698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94959"/>
            <a:ext cx="73152" cy="1143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/>
              </a:defRPr>
            </a:pPr>
            <a:r>
              <a:t>Group J: 중복 전송 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동일 메시지 2회 전송 → 클라이언트에 2회 수신</a:t>
            </a:r>
            <a:br/>
            <a:r>
              <a:t>FCM 서버에 중복 제거(dedup) 기능 없음</a:t>
            </a:r>
            <a:br/>
            <a:r>
              <a:t>→ L2 QoS의 클라이언트 dedup이 필수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7149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Exactly-Once는 클라이언트 구현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542032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07  분석 및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QoS 레벨별 장애 대응 효과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733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장애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73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73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03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스테일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03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03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037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토큰 자체 무효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페이로드 초과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79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79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79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679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679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분할 전송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99816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Rate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154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Arial"/>
              </a:defRPr>
            </a:pPr>
            <a:r>
              <a:t>~90% 복구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Arial"/>
              </a:defRPr>
            </a:pPr>
            <a:r>
              <a:t>~90% 복구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재시도 유효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630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FCM 100개 제한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6301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630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손실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630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Arial"/>
              </a:defRPr>
            </a:pPr>
            <a:r>
              <a:t>부분 복구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630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Arial"/>
              </a:defRPr>
            </a:pPr>
            <a:r>
              <a:t>부분 복구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630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배치 분할 필요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050791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1056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Collapse Key 교체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10565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1056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86.7% 손실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1056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86.7% 손실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1056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86.7% 손실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1056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구조적 한계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581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Android OEM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5811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581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45~80% 손실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581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개선 불가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4581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개선 불가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581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기기 문제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001768"/>
            <a:ext cx="106984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iOS Silent 제한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5056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개선 불가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개선 불가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5056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Apple 정책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네트워크 오프라인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D6A"/>
                </a:solidFill>
                <a:latin typeface="Arial"/>
              </a:defRPr>
            </a:pPr>
            <a:r>
              <a:t>손실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Arial"/>
              </a:defRPr>
            </a:pPr>
            <a:r>
              <a:t>TTL 내 복구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96"/>
                </a:solidFill>
                <a:latin typeface="Arial"/>
              </a:defRPr>
            </a:pPr>
            <a:r>
              <a:t>TTL 내 복구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Arial"/>
              </a:defRPr>
            </a:pPr>
            <a:r>
              <a:t>일시적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solidFill>
            <a:srgbClr val="2D2015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핵심:  L1/L2는 Layer 1(서버) 장애에 효과적이나, Layer 3(OS/OEM) 문제는 서버 측으로 해결 불가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542032" cy="320040"/>
          </a:xfrm>
          <a:prstGeom prst="rect">
            <a:avLst/>
          </a:prstGeom>
          <a:noFill/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SECTION 07  분석 및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핵심 발견 5가지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Arial"/>
              </a:defRPr>
            </a:pPr>
            <a:r>
              <a:t>이상적 환경 = 100% 전달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385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에뮬레이터 + 안정 네트워크에서 모든 시나리오 100% 전달 달성</a:t>
            </a:r>
            <a:br/>
            <a:r>
              <a:t>→ FCM 자체의 프로토콜은 신뢰할 수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6984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D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6A"/>
                </a:solidFill>
                <a:latin typeface="Arial"/>
              </a:defRPr>
            </a:pPr>
            <a:r>
              <a:t>Collapse Key = 최대 위험 요소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443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동일 키 사용 시 전달률 86.7%p 하락 (100% → 13.3%)</a:t>
            </a:r>
            <a:br/>
            <a:r>
              <a:t>→ 메시지 유형에 따른 키 전략이 필수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106984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39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FCM 서버에 Dedup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502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동일 메시지 2회 전송 시 2회 모두 수신 → 클라이언트 측 중복 제거 필요</a:t>
            </a:r>
            <a:br/>
            <a:r>
              <a:t>→ Exactly-Once 보장은 애플리케이션 레벨 구현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106984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4KB 페이로드 한계 = Hard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56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4,096B까지 정상, 그 이상 즉시 거부</a:t>
            </a:r>
            <a:br/>
            <a:r>
              <a:t>→ 대용량 데이터는 참조 URL 전송 + 클라이언트 fetch 패턴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77840"/>
            <a:ext cx="106984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/>
              </a:defRPr>
            </a:pPr>
            <a:r>
              <a:t>Layer 3 (OS/OEM) = 서버 제어 불가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961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Android OEM 배터리 최적화, iOS Silent 제한은 L1/L2로도 해결 불가</a:t>
            </a:r>
            <a:br/>
            <a:r>
              <a:t>→ HMS, MQTT 등 대안 채널 필요 (최대 위험 영역)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3657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Arial"/>
              </a:defRPr>
            </a:pPr>
            <a:r>
              <a:t>DexWeaver FCM QoS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Arial"/>
              </a:defRPr>
            </a:pPr>
            <a:r>
              <a:t>28+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Arial"/>
              </a:defRPr>
            </a:pPr>
            <a:r>
              <a:t>실험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Arial"/>
              </a:defRPr>
            </a:pPr>
            <a:r>
              <a:t>QoS 지표 (M1~M8)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Arial"/>
              </a:defRPr>
            </a:pPr>
            <a:r>
              <a:t>QoS 레벨 (L0/L1/L2)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59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Arial"/>
              </a:defRPr>
            </a:pPr>
            <a:r>
              <a:t>기준선 전달률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0"/>
                </a:solidFill>
                <a:latin typeface="Arial"/>
              </a:defRPr>
            </a:pPr>
            <a:r>
              <a:t>2026.03  |  DexWeaver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90"/>
                </a:solidFill>
                <a:latin typeface="Arial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